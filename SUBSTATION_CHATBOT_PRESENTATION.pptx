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DA5A8E-A8F9-4A1B-8981-1746FB6CEE37}">
  <a:tblStyle styleId="{9EDA5A8E-A8F9-4A1B-8981-1746FB6CEE37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666c04670_6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7666c04670_6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b900e385f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b900e385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666c04670_6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7666c04670_6_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666c04670_6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7666c04670_6_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666c04670_6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7666c04670_6_1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666c04670_6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7666c04670_6_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666c04670_4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7666c04670_4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666c04670_4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7666c04670_4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666c04670_6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37666c04670_6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666c04670_6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37666c04670_6_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7666c04670_6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g37666c04670_6_1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666c04670_6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g37666c04670_6_1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788158" y="991790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1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1524000" y="2494981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7365D"/>
              </a:buClr>
              <a:buSzPts val="1500"/>
              <a:buNone/>
              <a:defRPr b="1" sz="1500">
                <a:solidFill>
                  <a:srgbClr val="17365D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457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>
            <a:off x="3124200" y="4767265"/>
            <a:ext cx="289552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6553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609600" y="205978"/>
            <a:ext cx="8001000" cy="365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1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609600" y="857251"/>
            <a:ext cx="8001000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0" type="dt"/>
          </p:nvPr>
        </p:nvSpPr>
        <p:spPr>
          <a:xfrm>
            <a:off x="457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1" type="ftr"/>
          </p:nvPr>
        </p:nvSpPr>
        <p:spPr>
          <a:xfrm>
            <a:off x="3124200" y="4767265"/>
            <a:ext cx="289552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6553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722313" y="3305177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Verdana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722313" y="2180035"/>
            <a:ext cx="7772400" cy="112522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0" type="dt"/>
          </p:nvPr>
        </p:nvSpPr>
        <p:spPr>
          <a:xfrm>
            <a:off x="457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3124200" y="4767265"/>
            <a:ext cx="289552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6553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609600" y="205978"/>
            <a:ext cx="8001000" cy="365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457200" y="1200152"/>
            <a:ext cx="4038525" cy="33945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9" name="Google Shape;79;p17"/>
          <p:cNvSpPr txBox="1"/>
          <p:nvPr>
            <p:ph idx="2" type="body"/>
          </p:nvPr>
        </p:nvSpPr>
        <p:spPr>
          <a:xfrm>
            <a:off x="4648200" y="1200152"/>
            <a:ext cx="4038525" cy="33945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0" name="Google Shape;80;p17"/>
          <p:cNvSpPr txBox="1"/>
          <p:nvPr>
            <p:ph idx="10" type="dt"/>
          </p:nvPr>
        </p:nvSpPr>
        <p:spPr>
          <a:xfrm>
            <a:off x="457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3124200" y="4767265"/>
            <a:ext cx="289552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6553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644526" y="228600"/>
            <a:ext cx="8001000" cy="365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457200" y="1151335"/>
            <a:ext cx="4040100" cy="47992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2" type="body"/>
          </p:nvPr>
        </p:nvSpPr>
        <p:spPr>
          <a:xfrm>
            <a:off x="457200" y="1631156"/>
            <a:ext cx="4040100" cy="2963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7" name="Google Shape;87;p18"/>
          <p:cNvSpPr txBox="1"/>
          <p:nvPr>
            <p:ph idx="3" type="body"/>
          </p:nvPr>
        </p:nvSpPr>
        <p:spPr>
          <a:xfrm>
            <a:off x="4645027" y="1151335"/>
            <a:ext cx="4041675" cy="47992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8"/>
          <p:cNvSpPr txBox="1"/>
          <p:nvPr>
            <p:ph idx="4" type="body"/>
          </p:nvPr>
        </p:nvSpPr>
        <p:spPr>
          <a:xfrm>
            <a:off x="4645027" y="1631156"/>
            <a:ext cx="4041675" cy="2963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8"/>
          <p:cNvSpPr txBox="1"/>
          <p:nvPr>
            <p:ph idx="10" type="dt"/>
          </p:nvPr>
        </p:nvSpPr>
        <p:spPr>
          <a:xfrm>
            <a:off x="457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3124200" y="4767265"/>
            <a:ext cx="289552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6553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2895600" y="205978"/>
            <a:ext cx="5791275" cy="365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0" type="dt"/>
          </p:nvPr>
        </p:nvSpPr>
        <p:spPr>
          <a:xfrm>
            <a:off x="457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1" type="ftr"/>
          </p:nvPr>
        </p:nvSpPr>
        <p:spPr>
          <a:xfrm>
            <a:off x="3124200" y="4767265"/>
            <a:ext cx="289552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6553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C:\Users\AMMU\Desktop\Border.png" id="97" name="Google Shape;9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78907" y="104906"/>
            <a:ext cx="7265095" cy="523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idx="10" type="dt"/>
          </p:nvPr>
        </p:nvSpPr>
        <p:spPr>
          <a:xfrm>
            <a:off x="457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1" type="ftr"/>
          </p:nvPr>
        </p:nvSpPr>
        <p:spPr>
          <a:xfrm>
            <a:off x="3124200" y="4767265"/>
            <a:ext cx="289552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6553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457201" y="204788"/>
            <a:ext cx="3008250" cy="8716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Verdana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575050" y="204790"/>
            <a:ext cx="5111775" cy="4389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5" name="Google Shape;105;p21"/>
          <p:cNvSpPr txBox="1"/>
          <p:nvPr>
            <p:ph idx="2" type="body"/>
          </p:nvPr>
        </p:nvSpPr>
        <p:spPr>
          <a:xfrm>
            <a:off x="457201" y="1076327"/>
            <a:ext cx="3008250" cy="35183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6" name="Google Shape;106;p21"/>
          <p:cNvSpPr txBox="1"/>
          <p:nvPr>
            <p:ph idx="10" type="dt"/>
          </p:nvPr>
        </p:nvSpPr>
        <p:spPr>
          <a:xfrm>
            <a:off x="457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1" type="ftr"/>
          </p:nvPr>
        </p:nvSpPr>
        <p:spPr>
          <a:xfrm>
            <a:off x="3124200" y="4767265"/>
            <a:ext cx="289552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12" type="sldNum"/>
          </p:nvPr>
        </p:nvSpPr>
        <p:spPr>
          <a:xfrm>
            <a:off x="6553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1792288" y="3600450"/>
            <a:ext cx="5486400" cy="42502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Verdana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1792288" y="4025504"/>
            <a:ext cx="5486400" cy="6036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3" name="Google Shape;113;p22"/>
          <p:cNvSpPr txBox="1"/>
          <p:nvPr>
            <p:ph idx="10" type="dt"/>
          </p:nvPr>
        </p:nvSpPr>
        <p:spPr>
          <a:xfrm>
            <a:off x="457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11" type="ftr"/>
          </p:nvPr>
        </p:nvSpPr>
        <p:spPr>
          <a:xfrm>
            <a:off x="3124200" y="4767265"/>
            <a:ext cx="289552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6553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609600" y="205978"/>
            <a:ext cx="8001000" cy="365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 rot="5400000">
            <a:off x="2752725" y="-1285874"/>
            <a:ext cx="3714750" cy="8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0" type="dt"/>
          </p:nvPr>
        </p:nvSpPr>
        <p:spPr>
          <a:xfrm>
            <a:off x="457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11" type="ftr"/>
          </p:nvPr>
        </p:nvSpPr>
        <p:spPr>
          <a:xfrm>
            <a:off x="3124200" y="4767265"/>
            <a:ext cx="289552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idx="12" type="sldNum"/>
          </p:nvPr>
        </p:nvSpPr>
        <p:spPr>
          <a:xfrm>
            <a:off x="6553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 rot="5400000">
            <a:off x="5463788" y="1371593"/>
            <a:ext cx="43886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 rot="5400000">
            <a:off x="1272750" y="-609644"/>
            <a:ext cx="4388625" cy="6019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0" type="dt"/>
          </p:nvPr>
        </p:nvSpPr>
        <p:spPr>
          <a:xfrm>
            <a:off x="457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4"/>
          <p:cNvSpPr txBox="1"/>
          <p:nvPr>
            <p:ph idx="11" type="ftr"/>
          </p:nvPr>
        </p:nvSpPr>
        <p:spPr>
          <a:xfrm>
            <a:off x="3124200" y="4767265"/>
            <a:ext cx="289552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idx="12" type="sldNum"/>
          </p:nvPr>
        </p:nvSpPr>
        <p:spPr>
          <a:xfrm>
            <a:off x="6553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05978"/>
            <a:ext cx="8001000" cy="365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Verdana"/>
              <a:buNone/>
              <a:defRPr b="1" i="0" sz="21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09600" y="857251"/>
            <a:ext cx="8001000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2385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5"/>
            <a:ext cx="289552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5"/>
            <a:ext cx="21336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6" name="Google Shape;56;p13"/>
          <p:cNvCxnSpPr/>
          <p:nvPr/>
        </p:nvCxnSpPr>
        <p:spPr>
          <a:xfrm>
            <a:off x="609600" y="685800"/>
            <a:ext cx="8001000" cy="0"/>
          </a:xfrm>
          <a:prstGeom prst="straightConnector1">
            <a:avLst/>
          </a:prstGeom>
          <a:noFill/>
          <a:ln cap="flat" cmpd="thickThin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7" name="Google Shape;57;p13"/>
          <p:cNvPicPr preferRelativeResize="0"/>
          <p:nvPr/>
        </p:nvPicPr>
        <p:blipFill rotWithShape="1">
          <a:blip r:embed="rId1">
            <a:alphaModFix/>
          </a:blip>
          <a:srcRect b="18045" l="0" r="0" t="0"/>
          <a:stretch/>
        </p:blipFill>
        <p:spPr>
          <a:xfrm>
            <a:off x="0" y="4493525"/>
            <a:ext cx="9144001" cy="6499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substation-chatbot/substation-chatbot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ctrTitle"/>
          </p:nvPr>
        </p:nvSpPr>
        <p:spPr>
          <a:xfrm>
            <a:off x="592852" y="801826"/>
            <a:ext cx="7772400" cy="722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lntelligent chatbot to answer queries pertaining to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100"/>
              <a:buFont typeface="Verdana"/>
              <a:buNone/>
            </a:pPr>
            <a:r>
              <a:rPr lang="en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various Maintenance Processes within Substation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3" name="Google Shape;133;p25"/>
          <p:cNvSpPr txBox="1"/>
          <p:nvPr>
            <p:ph idx="1" type="subTitle"/>
          </p:nvPr>
        </p:nvSpPr>
        <p:spPr>
          <a:xfrm>
            <a:off x="592851" y="1523989"/>
            <a:ext cx="32934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500"/>
              <a:buNone/>
            </a:pPr>
            <a:r>
              <a:rPr lang="en" sz="1400">
                <a:latin typeface="Cambria"/>
                <a:ea typeface="Cambria"/>
                <a:cs typeface="Cambria"/>
                <a:sym typeface="Cambria"/>
              </a:rPr>
              <a:t>Batch Number: CSG_33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4860146" y="1885005"/>
            <a:ext cx="4135725" cy="15154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500"/>
              <a:buFont typeface="Arial"/>
              <a:buNone/>
            </a:pPr>
            <a:r>
              <a:rPr b="1" i="0" lang="en" sz="14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Under the Supervision of,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7365D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7365D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Mr.Ankita Bhaumik</a:t>
            </a:r>
            <a:endParaRPr b="0" i="0" sz="11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7365D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Professor / Associate Professor / Assistant Professor</a:t>
            </a:r>
            <a:endParaRPr b="0" i="0" sz="11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7365D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School of Computer Science and Engineering</a:t>
            </a:r>
            <a:endParaRPr b="0" i="0" sz="11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7365D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Presidency University</a:t>
            </a:r>
            <a:endParaRPr b="0" i="0" sz="11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7365D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35" name="Google Shape;135;p25"/>
          <p:cNvGraphicFramePr/>
          <p:nvPr/>
        </p:nvGraphicFramePr>
        <p:xfrm>
          <a:off x="424685" y="18654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{9EDA5A8E-A8F9-4A1B-8981-1746FB6CEE37}</a:tableStyleId>
              </a:tblPr>
              <a:tblGrid>
                <a:gridCol w="1563750"/>
                <a:gridCol w="2500250"/>
              </a:tblGrid>
              <a:tr h="229675"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b="1" sz="1400" u="none" cap="none" strike="noStrike">
                        <a:solidFill>
                          <a:srgbClr val="17365D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b="1" sz="1400" u="none" cap="none" strike="noStrike">
                        <a:solidFill>
                          <a:srgbClr val="17365D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/>
                        <a:t>Aravinda K Kambar</a:t>
                      </a:r>
                      <a:endParaRPr sz="14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/>
                        <a:t>20221CSG0076</a:t>
                      </a:r>
                      <a:endParaRPr sz="14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/>
                        <a:t>Raghavendra Shreevatsa SR</a:t>
                      </a:r>
                      <a:endParaRPr sz="14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/>
                        <a:t>20221CSG0063</a:t>
                      </a:r>
                      <a:endParaRPr sz="14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/>
                        <a:t>Sree Shiva R</a:t>
                      </a:r>
                      <a:endParaRPr sz="14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/>
                        <a:t>20221CSG0110</a:t>
                      </a:r>
                      <a:endParaRPr sz="14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" name="Google Shape;136;p25"/>
          <p:cNvSpPr txBox="1"/>
          <p:nvPr/>
        </p:nvSpPr>
        <p:spPr>
          <a:xfrm>
            <a:off x="2124169" y="102331"/>
            <a:ext cx="4124230" cy="5470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CSE7101- Capstone Project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7365D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Review-</a:t>
            </a:r>
            <a:r>
              <a:rPr b="1" lang="en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1" i="0" sz="1400" u="none" cap="none" strike="noStrike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592850" y="3497075"/>
            <a:ext cx="91875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Program: CSG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HoD: </a:t>
            </a:r>
            <a:r>
              <a:rPr b="1"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Dr. Anandaraj SP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Program Project Coord</a:t>
            </a:r>
            <a:r>
              <a:rPr b="1" lang="en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b="1" i="0" lang="en" sz="14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nator</a:t>
            </a:r>
            <a:r>
              <a:rPr b="1" i="0" lang="en" sz="14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b="1"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Dr. Sharmasth Vali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School Project Coordinators: </a:t>
            </a:r>
            <a:r>
              <a:rPr b="1" i="0" lang="en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Dr. Sampath A K , Dr. Geetha A </a:t>
            </a:r>
            <a:endParaRPr b="1" i="0" sz="1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609600" y="205978"/>
            <a:ext cx="8001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100"/>
              <a:buFont typeface="Verdana"/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Problem Statement Number: PSCS_67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609600" y="960626"/>
            <a:ext cx="8001000" cy="3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latin typeface="Cambria"/>
                <a:ea typeface="Cambria"/>
                <a:cs typeface="Cambria"/>
                <a:sym typeface="Cambria"/>
              </a:rPr>
              <a:t>Organization: </a:t>
            </a:r>
            <a:r>
              <a:rPr lang="en" sz="1400">
                <a:latin typeface="Cambria"/>
                <a:ea typeface="Cambria"/>
                <a:cs typeface="Cambria"/>
                <a:sym typeface="Cambria"/>
              </a:rPr>
              <a:t>Ministry of Power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latin typeface="Cambria"/>
                <a:ea typeface="Cambria"/>
                <a:cs typeface="Cambria"/>
                <a:sym typeface="Cambria"/>
              </a:rPr>
              <a:t>Category (Hardware / Software / Both) : </a:t>
            </a:r>
            <a:r>
              <a:rPr lang="en" sz="1400">
                <a:latin typeface="Cambria"/>
                <a:ea typeface="Cambria"/>
                <a:cs typeface="Cambria"/>
                <a:sym typeface="Cambria"/>
              </a:rPr>
              <a:t>Software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Challenges in Substation Maintenance: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Difficulty locating correct procedures during urgent maintenance.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Limited availability of senior experts → widening skill gap.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High risk of errors when interpreting manuals under time pressure.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Existing tools lack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semantic understanding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standards-grounded output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Project Goal:</a:t>
            </a:r>
            <a:br>
              <a:rPr b="1"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Create a chatbot that answers maintenance queries with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high accuracy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zero hallucinations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compliance to IEC/CBIP guidelines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609600" y="205978"/>
            <a:ext cx="8001000" cy="365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1143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493300" y="1002275"/>
            <a:ext cx="8001000" cy="3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-32575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•"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Classify technician queries (informational, diagnostic, hybrid).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2575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•"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Retrieve relevant content from embedded manuals 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2575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•"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Generate safe, accurate answers using an LLM.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2575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•"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Provide a fast (&lt;2 sec) response time for real-time field usage.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2575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•"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Develop a user-friendly interface for technicians.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39700" lvl="0" marL="254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39700" lvl="0" marL="254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39700" lvl="0" marL="2540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39700" lvl="0" marL="2540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39700" lvl="0" marL="2540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609600" y="205978"/>
            <a:ext cx="8001000" cy="365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1143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Analysis of Problem Statement 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609600" y="1050575"/>
            <a:ext cx="8001000" cy="3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25000" lnSpcReduction="20000"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•"/>
            </a:pPr>
            <a:r>
              <a:rPr b="1" lang="en" sz="5600">
                <a:latin typeface="Cambria"/>
                <a:ea typeface="Cambria"/>
                <a:cs typeface="Cambria"/>
                <a:sym typeface="Cambria"/>
              </a:rPr>
              <a:t>Domain: </a:t>
            </a:r>
            <a:r>
              <a:rPr lang="en" sz="5600">
                <a:latin typeface="Cambria"/>
                <a:ea typeface="Cambria"/>
                <a:cs typeface="Cambria"/>
                <a:sym typeface="Cambria"/>
              </a:rPr>
              <a:t>Substation asset maintenance (transformers, reactors, circuit breakers, instrument transformers, surge arrestors).</a:t>
            </a:r>
            <a:endParaRPr sz="5600"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•"/>
            </a:pPr>
            <a:r>
              <a:rPr b="1" lang="en" sz="5600">
                <a:latin typeface="Cambria"/>
                <a:ea typeface="Cambria"/>
                <a:cs typeface="Cambria"/>
                <a:sym typeface="Cambria"/>
              </a:rPr>
              <a:t>Need:  </a:t>
            </a:r>
            <a:r>
              <a:rPr lang="en" sz="5600">
                <a:latin typeface="Cambria"/>
                <a:ea typeface="Cambria"/>
                <a:cs typeface="Cambria"/>
                <a:sym typeface="Cambria"/>
              </a:rPr>
              <a:t>Quick, reliable guidance on tests, acceptable limits, and troubleshooting.</a:t>
            </a:r>
            <a:endParaRPr sz="5600"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•"/>
            </a:pPr>
            <a:r>
              <a:rPr b="1" lang="en" sz="5600">
                <a:latin typeface="Cambria"/>
                <a:ea typeface="Cambria"/>
                <a:cs typeface="Cambria"/>
                <a:sym typeface="Cambria"/>
              </a:rPr>
              <a:t>Challenge: </a:t>
            </a:r>
            <a:r>
              <a:rPr lang="en" sz="5600">
                <a:latin typeface="Cambria"/>
                <a:ea typeface="Cambria"/>
                <a:cs typeface="Cambria"/>
                <a:sym typeface="Cambria"/>
              </a:rPr>
              <a:t>Existing methods (manuals, human expertise) are time-consuming and lack real-time support.</a:t>
            </a:r>
            <a:endParaRPr sz="5600"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•"/>
            </a:pPr>
            <a:r>
              <a:rPr b="1" lang="en" sz="5600">
                <a:latin typeface="Cambria"/>
                <a:ea typeface="Cambria"/>
                <a:cs typeface="Cambria"/>
                <a:sym typeface="Cambria"/>
              </a:rPr>
              <a:t>Solution Direction: </a:t>
            </a:r>
            <a:r>
              <a:rPr lang="en" sz="5600">
                <a:latin typeface="Cambria"/>
                <a:ea typeface="Cambria"/>
                <a:cs typeface="Cambria"/>
                <a:sym typeface="Cambria"/>
              </a:rPr>
              <a:t>Develop an intelligent NLP-based chatbot capable of semantic query understanding.</a:t>
            </a:r>
            <a:endParaRPr sz="5600"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•"/>
            </a:pPr>
            <a:r>
              <a:rPr b="1" lang="en" sz="5600">
                <a:latin typeface="Cambria"/>
                <a:ea typeface="Cambria"/>
                <a:cs typeface="Cambria"/>
                <a:sym typeface="Cambria"/>
              </a:rPr>
              <a:t>Key Requirements: </a:t>
            </a:r>
            <a:endParaRPr b="1" sz="5600">
              <a:latin typeface="Cambria"/>
              <a:ea typeface="Cambria"/>
              <a:cs typeface="Cambria"/>
              <a:sym typeface="Cambria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–"/>
            </a:pPr>
            <a:r>
              <a:rPr lang="en" sz="5600">
                <a:latin typeface="Cambria"/>
                <a:ea typeface="Cambria"/>
                <a:cs typeface="Cambria"/>
                <a:sym typeface="Cambria"/>
              </a:rPr>
              <a:t>Step-by-step procedures for maintenance activities</a:t>
            </a:r>
            <a:endParaRPr sz="5600">
              <a:latin typeface="Cambria"/>
              <a:ea typeface="Cambria"/>
              <a:cs typeface="Cambria"/>
              <a:sym typeface="Cambria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–"/>
            </a:pPr>
            <a:r>
              <a:rPr lang="en" sz="5600">
                <a:latin typeface="Cambria"/>
                <a:ea typeface="Cambria"/>
                <a:cs typeface="Cambria"/>
                <a:sym typeface="Cambria"/>
              </a:rPr>
              <a:t>Acceptable test values &amp; limits</a:t>
            </a:r>
            <a:endParaRPr sz="5600">
              <a:latin typeface="Cambria"/>
              <a:ea typeface="Cambria"/>
              <a:cs typeface="Cambria"/>
              <a:sym typeface="Cambria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–"/>
            </a:pPr>
            <a:r>
              <a:rPr lang="en" sz="5600">
                <a:latin typeface="Cambria"/>
                <a:ea typeface="Cambria"/>
                <a:cs typeface="Cambria"/>
                <a:sym typeface="Cambria"/>
              </a:rPr>
              <a:t>Troubleshooting &amp; corrective actions</a:t>
            </a:r>
            <a:endParaRPr sz="5600">
              <a:latin typeface="Cambria"/>
              <a:ea typeface="Cambria"/>
              <a:cs typeface="Cambria"/>
              <a:sym typeface="Cambria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–"/>
            </a:pPr>
            <a:r>
              <a:rPr lang="en" sz="5600">
                <a:latin typeface="Cambria"/>
                <a:ea typeface="Cambria"/>
                <a:cs typeface="Cambria"/>
                <a:sym typeface="Cambria"/>
              </a:rPr>
              <a:t>Integration of safety guidelines &amp; industry standards</a:t>
            </a:r>
            <a:endParaRPr sz="5600">
              <a:latin typeface="Cambria"/>
              <a:ea typeface="Cambria"/>
              <a:cs typeface="Cambria"/>
              <a:sym typeface="Cambria"/>
            </a:endParaRPr>
          </a:p>
          <a:p>
            <a:pPr indent="-139700" lvl="0" marL="2540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39700" lvl="0" marL="2540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39700" lvl="0" marL="2540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39700" lvl="0" marL="2540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465250" y="180128"/>
            <a:ext cx="8001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FlowChart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66" name="Google Shape;16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2325" y="876400"/>
            <a:ext cx="2768274" cy="369825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0"/>
          <p:cNvSpPr txBox="1"/>
          <p:nvPr/>
        </p:nvSpPr>
        <p:spPr>
          <a:xfrm>
            <a:off x="465250" y="1059725"/>
            <a:ext cx="5377200" cy="16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User enters query:</a:t>
            </a:r>
            <a:r>
              <a:rPr lang="en">
                <a:solidFill>
                  <a:schemeClr val="dk1"/>
                </a:solidFill>
              </a:rPr>
              <a:t> Technician inputs a maintenance question.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Embed query:</a:t>
            </a:r>
            <a:r>
              <a:rPr lang="en">
                <a:solidFill>
                  <a:schemeClr val="dk1"/>
                </a:solidFill>
              </a:rPr>
              <a:t> The system converts the query into a vector.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Retrieve relevant chunks (ChromaDB):</a:t>
            </a:r>
            <a:r>
              <a:rPr lang="en">
                <a:solidFill>
                  <a:schemeClr val="dk1"/>
                </a:solidFill>
              </a:rPr>
              <a:t> Matching text passages from manuals and SOPs are fetched.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Form augmented prompt (Gemini):</a:t>
            </a:r>
            <a:r>
              <a:rPr lang="en">
                <a:solidFill>
                  <a:schemeClr val="dk1"/>
                </a:solidFill>
              </a:rPr>
              <a:t> Retrieved context is combined with the query.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Generate grounded answer (Gemini):</a:t>
            </a:r>
            <a:r>
              <a:rPr lang="en">
                <a:solidFill>
                  <a:schemeClr val="dk1"/>
                </a:solidFill>
              </a:rPr>
              <a:t> The model produces a standards-based, accurate response.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Display final answer:</a:t>
            </a:r>
            <a:r>
              <a:rPr lang="en">
                <a:solidFill>
                  <a:schemeClr val="dk1"/>
                </a:solidFill>
              </a:rPr>
              <a:t> The system shows the final, grounded output to the user.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609600" y="205978"/>
            <a:ext cx="8001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1143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Innovation / Novel Contributions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571500" y="818600"/>
            <a:ext cx="8001000" cy="3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/>
          </a:bodyPr>
          <a:lstStyle/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mbria"/>
                <a:ea typeface="Cambria"/>
                <a:cs typeface="Cambria"/>
                <a:sym typeface="Cambria"/>
              </a:rPr>
              <a:t>1. Domain-Specific Intelligence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indent="-316706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○"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NLP-powered chatbot for substation asset maintenance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16706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○"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Semantic query understanding (beyond keyword search)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mbria"/>
                <a:ea typeface="Cambria"/>
                <a:cs typeface="Cambria"/>
                <a:sym typeface="Cambria"/>
              </a:rPr>
              <a:t>2. Multimodel Enhancements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indent="-316706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○"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Document-based queries → upload manuals/reports, retrieve context-specific answers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mbria"/>
                <a:ea typeface="Cambria"/>
                <a:cs typeface="Cambria"/>
                <a:sym typeface="Cambria"/>
              </a:rPr>
              <a:t>3. Real-Time Decision Support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indent="-316706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○"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Reliable, quick guidance → reduces downtime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16706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○"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Field-ready support for engineers &amp; technicians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609600" y="205978"/>
            <a:ext cx="8001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1143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Technology Stack and Requirements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9" name="Google Shape;179;p32"/>
          <p:cNvSpPr txBox="1"/>
          <p:nvPr>
            <p:ph idx="1" type="body"/>
          </p:nvPr>
        </p:nvSpPr>
        <p:spPr>
          <a:xfrm>
            <a:off x="571500" y="830650"/>
            <a:ext cx="8001000" cy="3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Backend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FastAPI, Python 3.10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HuggingFace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Embeddings, ChromaDB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Gemini API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Frontend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Streamlit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System Requirements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RAM: 8–16GB (local dev)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Python libraries: LangChain, Uvicorn, Pydantic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1400"/>
              </a:spcBef>
              <a:spcAft>
                <a:spcPts val="400"/>
              </a:spcAft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Disk: ~1GB for vector store &amp; manuals</a:t>
            </a:r>
            <a:endParaRPr b="1" sz="1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type="title"/>
          </p:nvPr>
        </p:nvSpPr>
        <p:spPr>
          <a:xfrm>
            <a:off x="609600" y="205978"/>
            <a:ext cx="8001000" cy="365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1143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GitHub Repository Link (public access enabled)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609600" y="857250"/>
            <a:ext cx="8001000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39700" lvl="0" marL="254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39700" lvl="0" marL="254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39700" lvl="0" marL="2540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39700" lvl="0" marL="2540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139700" lvl="0" marL="2540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6" name="Google Shape;186;p33"/>
          <p:cNvSpPr txBox="1"/>
          <p:nvPr/>
        </p:nvSpPr>
        <p:spPr>
          <a:xfrm>
            <a:off x="723900" y="971550"/>
            <a:ext cx="8001000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39700" lvl="0" marL="25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39700" lvl="0" marL="25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39700" lvl="0" marL="2540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39700" lvl="0" marL="2540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39700" lvl="0" marL="2540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7" name="Google Shape;187;p33"/>
          <p:cNvSpPr txBox="1"/>
          <p:nvPr/>
        </p:nvSpPr>
        <p:spPr>
          <a:xfrm>
            <a:off x="571500" y="857250"/>
            <a:ext cx="8001000" cy="31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Github Link :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i="1" lang="en" sz="1600" u="sng">
                <a:solidFill>
                  <a:schemeClr val="hlink"/>
                </a:solidFill>
                <a:hlinkClick r:id="rId3"/>
              </a:rPr>
              <a:t>https://github.com/substation-chatbot/substation-chatbot</a:t>
            </a:r>
            <a:endParaRPr i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Includes: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Backend (FastAPI)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RAG Pipeline Code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Embedding + Vector Store Scripts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Frontend UI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Test Cases &amp; Evaluation Logs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Project Report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Research Paper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/>
          <p:nvPr>
            <p:ph type="title"/>
          </p:nvPr>
        </p:nvSpPr>
        <p:spPr>
          <a:xfrm>
            <a:off x="609600" y="205978"/>
            <a:ext cx="8001000" cy="365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100"/>
              <a:buFont typeface="Verdana"/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Timeline of the Project (Gantt Chart)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93" name="Google Shape;1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2000" y="969550"/>
            <a:ext cx="5417549" cy="361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/>
          <p:nvPr>
            <p:ph type="title"/>
          </p:nvPr>
        </p:nvSpPr>
        <p:spPr>
          <a:xfrm>
            <a:off x="609600" y="205978"/>
            <a:ext cx="8001000" cy="365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References (IEEE Paper format)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9" name="Google Shape;199;p35"/>
          <p:cNvSpPr txBox="1"/>
          <p:nvPr>
            <p:ph idx="1" type="body"/>
          </p:nvPr>
        </p:nvSpPr>
        <p:spPr>
          <a:xfrm>
            <a:off x="609600" y="571601"/>
            <a:ext cx="8001000" cy="3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[1]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P. Lewis, E. Perez, A. Karpukhin </a:t>
            </a:r>
            <a:r>
              <a:rPr i="1" lang="en" sz="1400">
                <a:latin typeface="Arial"/>
                <a:ea typeface="Arial"/>
                <a:cs typeface="Arial"/>
                <a:sym typeface="Arial"/>
              </a:rPr>
              <a:t>et al.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“Retrieval-Augmented Generation for Knowledge-Intensive NLP Tasks,” </a:t>
            </a:r>
            <a:r>
              <a:rPr i="1" lang="en" sz="1400">
                <a:latin typeface="Arial"/>
                <a:ea typeface="Arial"/>
                <a:cs typeface="Arial"/>
                <a:sym typeface="Arial"/>
              </a:rPr>
              <a:t>Advances in Neural Information Processing Systems (NeurIPS)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vol. 33, pp. 9459–9474, 2020.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[2]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M. Ni, K. Xu, X. Liu, and Q. Zhu, “ChatGrid: Intelligent Knowledge Q&amp;A for Power Dispatching Control Based on Large Language Models and Retrieval-Augmented Generation,” </a:t>
            </a:r>
            <a:r>
              <a:rPr i="1" lang="en" sz="1400">
                <a:latin typeface="Arial"/>
                <a:ea typeface="Arial"/>
                <a:cs typeface="Arial"/>
                <a:sym typeface="Arial"/>
              </a:rPr>
              <a:t>Energy Informatics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vol. 7, no. 1, pp. 1–15, 2024.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[3]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A. J. C. Tang, M. H. Chen, N. J. Huang, and C. V. Trappey, “A VR-Enabled Chatbot Supporting Design and Manufacturing of Large and Complex Power Transformers,” </a:t>
            </a:r>
            <a:r>
              <a:rPr i="1" lang="en" sz="1400">
                <a:latin typeface="Arial"/>
                <a:ea typeface="Arial"/>
                <a:cs typeface="Arial"/>
                <a:sym typeface="Arial"/>
              </a:rPr>
              <a:t>Electronics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vol. 11, no. 1, p. 87, 2022.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[4]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K. Zhang, “Knowledge Graph Construction Towards a Graph-RAG Enhanced Intelligent Maintenance Chatbot,” in </a:t>
            </a:r>
            <a:r>
              <a:rPr i="1" lang="en" sz="1400">
                <a:latin typeface="Arial"/>
                <a:ea typeface="Arial"/>
                <a:cs typeface="Arial"/>
                <a:sym typeface="Arial"/>
              </a:rPr>
              <a:t>Proc. 17th International Semantic Systems Conference (SEMANTiCS)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2025, pp. 1–12.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ct val="78571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[5]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nternational Electrotechnical Commission (IEC), </a:t>
            </a:r>
            <a:r>
              <a:rPr i="1" lang="en" sz="1400">
                <a:latin typeface="Arial"/>
                <a:ea typeface="Arial"/>
                <a:cs typeface="Arial"/>
                <a:sym typeface="Arial"/>
              </a:rPr>
              <a:t>Power Transformers – Part 1: General (IEC 60076)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IEC Standard, 2021.</a:t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2108" y="1080986"/>
            <a:ext cx="2919979" cy="2951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